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7556500" cx="134334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0">
          <p15:clr>
            <a:srgbClr val="000000"/>
          </p15:clr>
        </p15:guide>
        <p15:guide id="2" pos="423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0" orient="horz"/>
        <p:guide pos="423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587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2587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382587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ba251be5a_1_1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ba251be5a_1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bbae64a4f_0_2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bbae64a4f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ba251be5a_1_12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ba251be5a_1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ba251be5a_1_18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ba251be5a_1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ba251be5a_1_25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ba251be5a_1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ba251be5a_1_30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ba251be5a_1_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bc0efeed8_0_7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bc0efeed8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ba251be5a_1_35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ba251be5a_1_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bc0efeed8_0_1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bc0efeed8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ba251be5a_1_56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ba251be5a_1_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ba251be5a_1_61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ba251be5a_1_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ba251be5a_1_51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ba251be5a_1_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ba251be5a_1_66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ba251be5a_1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ba251be5a_1_72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ba251be5a_1_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ba251be5a_1_82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ba251be5a_1_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ba251be5a_1_77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ba251be5a_1_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bc0efeed8_0_22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bc0efeed8_0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bc0efeed8_0_28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bc0efeed8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bc0efeed8_0_34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dbc0efeed8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ba251be5a_1_87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ba251be5a_1_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bc0efeed8_0_40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bc0efeed8_0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ba251be5a_1_92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ba251be5a_1_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bc0efeed8_0_46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dbc0efeed8_0_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bc0efeed8_0_52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bc0efeed8_0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bc0efeed8_0_59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bc0efeed8_0_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ba251be5a_1_40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ba251be5a_1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ba251be5a_1_45:notes"/>
          <p:cNvSpPr/>
          <p:nvPr>
            <p:ph idx="2" type="sldImg"/>
          </p:nvPr>
        </p:nvSpPr>
        <p:spPr>
          <a:xfrm>
            <a:off x="382587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ba251be5a_1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923925" y="2011362"/>
            <a:ext cx="11585575" cy="479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 rot="5400000">
            <a:off x="7859694" y="2155915"/>
            <a:ext cx="6403784" cy="2896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 rot="5400000">
            <a:off x="1982570" y="-656708"/>
            <a:ext cx="6403784" cy="852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 rot="5400000">
            <a:off x="4319588" y="-1384301"/>
            <a:ext cx="4794250" cy="11585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925298" y="503767"/>
            <a:ext cx="4332629" cy="17631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526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/>
          <p:nvPr>
            <p:ph idx="2" type="pic"/>
          </p:nvPr>
        </p:nvSpPr>
        <p:spPr>
          <a:xfrm>
            <a:off x="5710956" y="1087996"/>
            <a:ext cx="6800671" cy="5370013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925298" y="2266950"/>
            <a:ext cx="4332629" cy="4199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543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322"/>
              <a:buNone/>
              <a:defRPr sz="1322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925298" y="503767"/>
            <a:ext cx="4332629" cy="17631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526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5710956" y="1087996"/>
            <a:ext cx="6800671" cy="5370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2501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526"/>
              <a:buChar char="•"/>
              <a:defRPr sz="3526"/>
            </a:lvl1pPr>
            <a:lvl2pPr indent="-424498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3085"/>
              <a:buChar char="•"/>
              <a:defRPr sz="3085"/>
            </a:lvl2pPr>
            <a:lvl3pPr indent="-396494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644"/>
              <a:buChar char="•"/>
              <a:defRPr sz="2644"/>
            </a:lvl3pPr>
            <a:lvl4pPr indent="-368554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4pPr>
            <a:lvl5pPr indent="-368554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5pPr>
            <a:lvl6pPr indent="-368554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6pPr>
            <a:lvl7pPr indent="-368554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7pPr>
            <a:lvl8pPr indent="-368554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8pPr>
            <a:lvl9pPr indent="-368554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4"/>
              <a:buChar char="•"/>
              <a:defRPr sz="2204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925298" y="2266950"/>
            <a:ext cx="4332629" cy="4199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543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322"/>
              <a:buNone/>
              <a:defRPr sz="1322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1102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925298" y="402314"/>
            <a:ext cx="11586329" cy="14605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925298" y="1852393"/>
            <a:ext cx="5682968" cy="9078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44"/>
              <a:buNone/>
              <a:defRPr b="1" sz="2644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None/>
              <a:defRPr b="1" sz="2204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b="1" sz="1983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925298" y="2760222"/>
            <a:ext cx="5682968" cy="4059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3" type="body"/>
          </p:nvPr>
        </p:nvSpPr>
        <p:spPr>
          <a:xfrm>
            <a:off x="6800672" y="1852393"/>
            <a:ext cx="5710955" cy="9078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44"/>
              <a:buNone/>
              <a:defRPr b="1" sz="2644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None/>
              <a:defRPr b="1" sz="2204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b="1" sz="1983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b="1" sz="1763"/>
            </a:lvl9pPr>
          </a:lstStyle>
          <a:p/>
        </p:txBody>
      </p:sp>
      <p:sp>
        <p:nvSpPr>
          <p:cNvPr id="57" name="Google Shape;57;p9"/>
          <p:cNvSpPr txBox="1"/>
          <p:nvPr>
            <p:ph idx="4" type="body"/>
          </p:nvPr>
        </p:nvSpPr>
        <p:spPr>
          <a:xfrm>
            <a:off x="6800672" y="2760222"/>
            <a:ext cx="5710955" cy="4059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923548" y="2011568"/>
            <a:ext cx="5709206" cy="4794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2" type="body"/>
          </p:nvPr>
        </p:nvSpPr>
        <p:spPr>
          <a:xfrm>
            <a:off x="6800671" y="2011568"/>
            <a:ext cx="5709206" cy="4794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916551" y="1883878"/>
            <a:ext cx="11586329" cy="31432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1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916551" y="5056909"/>
            <a:ext cx="11586329" cy="1652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2644"/>
              <a:buNone/>
              <a:defRPr sz="2644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2204"/>
              <a:buNone/>
              <a:defRPr sz="2204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rgbClr val="888888"/>
              </a:buClr>
              <a:buSzPts val="1763"/>
              <a:buNone/>
              <a:defRPr sz="176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ctrTitle"/>
          </p:nvPr>
        </p:nvSpPr>
        <p:spPr>
          <a:xfrm>
            <a:off x="1679178" y="1236678"/>
            <a:ext cx="10075069" cy="2630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1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subTitle"/>
          </p:nvPr>
        </p:nvSpPr>
        <p:spPr>
          <a:xfrm>
            <a:off x="1679178" y="3968912"/>
            <a:ext cx="10075069" cy="182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44"/>
              <a:buNone/>
              <a:defRPr sz="2644"/>
            </a:lvl1pPr>
            <a:lvl2pPr lvl="1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4"/>
              <a:buNone/>
              <a:defRPr sz="2204"/>
            </a:lvl2pPr>
            <a:lvl3pPr lvl="2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3pPr>
            <a:lvl4pPr lvl="3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4pPr>
            <a:lvl5pPr lvl="4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5pPr>
            <a:lvl6pPr lvl="5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6pPr>
            <a:lvl7pPr lvl="6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7pPr>
            <a:lvl8pPr lvl="7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8pPr>
            <a:lvl9pPr lvl="8" algn="ctr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763"/>
              <a:buNone/>
              <a:defRPr sz="1763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3925" y="401637"/>
            <a:ext cx="11585575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23925" y="2011362"/>
            <a:ext cx="11585575" cy="479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4520" lvl="5" marL="27432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3"/>
              <a:buFont typeface="Arial"/>
              <a:buChar char="•"/>
              <a:defRPr b="0" i="0" sz="19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4520" lvl="6" marL="32004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3"/>
              <a:buFont typeface="Arial"/>
              <a:buChar char="•"/>
              <a:defRPr b="0" i="0" sz="19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4521" lvl="7" marL="36576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3"/>
              <a:buFont typeface="Arial"/>
              <a:buChar char="•"/>
              <a:defRPr b="0" i="0" sz="19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4521" lvl="8" marL="41148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3"/>
              <a:buFont typeface="Arial"/>
              <a:buChar char="•"/>
              <a:defRPr b="0" i="0" sz="19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923925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449762" y="7004050"/>
            <a:ext cx="45339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9486900" y="7004050"/>
            <a:ext cx="30226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ocs.python.org/3/tutorial/errors.html#user-defined-exceptions" TargetMode="External"/><Relationship Id="rId4" Type="http://schemas.openxmlformats.org/officeDocument/2006/relationships/image" Target="../media/image22.png"/><Relationship Id="rId5" Type="http://schemas.openxmlformats.org/officeDocument/2006/relationships/hyperlink" Target="https://docs.python.org/3/library/profile.html#introduction-to-the-profilers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902200" y="2465387"/>
            <a:ext cx="3995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800">
                <a:latin typeface="Comic Sans MS"/>
                <a:ea typeface="Comic Sans MS"/>
                <a:cs typeface="Comic Sans MS"/>
                <a:sym typeface="Comic Sans MS"/>
              </a:rPr>
              <a:t>Zaawansowana obsługa wyjątków i debugowanie</a:t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470800" y="5791200"/>
            <a:ext cx="122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808080"/>
                </a:solidFill>
              </a:rPr>
              <a:t>27.05.2026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811587" y="4343400"/>
            <a:ext cx="61722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2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A200"/>
                </a:solidFill>
                <a:latin typeface="Arial"/>
                <a:ea typeface="Arial"/>
                <a:cs typeface="Arial"/>
                <a:sym typeface="Arial"/>
              </a:rPr>
              <a:t>Akademia Górniczo-Hutnicza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im. Stanisława Staszica w Krakowie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AGH University of Krakow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603375" y="7018337"/>
            <a:ext cx="18002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1747837" y="7018337"/>
            <a:ext cx="18002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270725" y="1275650"/>
            <a:ext cx="8892000" cy="5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Plan prezentacji:</a:t>
            </a:r>
            <a:endParaRPr b="1" sz="4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●"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Czym są wyjątki i co z nimi robimy?</a:t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●"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Najważniejsze rodzaje wyjątków</a:t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●"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Zaawansowana obsługa wbudowanych oraz customowych wyjątków</a:t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●"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Debugowanie dla praktyków </a:t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Char char="●"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alternatywy dla print(“debug: error 404”)</a:t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latin typeface="Comic Sans MS"/>
                <a:ea typeface="Comic Sans MS"/>
                <a:cs typeface="Comic Sans MS"/>
                <a:sym typeface="Comic Sans MS"/>
              </a:rPr>
              <a:t>Czym jest wyjątek i co go różni od błędu ?</a:t>
            </a:r>
            <a:endParaRPr sz="42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923925" y="2011350"/>
            <a:ext cx="4949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>
                <a:latin typeface="Comic Sans MS"/>
                <a:ea typeface="Comic Sans MS"/>
                <a:cs typeface="Comic Sans MS"/>
                <a:sym typeface="Comic Sans MS"/>
              </a:rPr>
              <a:t>Error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błąd w kodzie który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 unie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możliwia jego działanie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(na przykład błąd w składni)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7545650" y="2011350"/>
            <a:ext cx="4755300" cy="47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Exception</a:t>
            </a:r>
            <a:endParaRPr b="1" sz="3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kod składniowo poprawny mogący wyrzucić błąd</a:t>
            </a:r>
            <a:endParaRPr sz="3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(na przykład wczytanie pliku, który nie istnieje)</a:t>
            </a:r>
            <a:endParaRPr sz="3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75" y="4681000"/>
            <a:ext cx="6637000" cy="110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7275" y="4681000"/>
            <a:ext cx="6988521" cy="11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923925" y="2011362"/>
            <a:ext cx="11585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141" y="0"/>
            <a:ext cx="2717143" cy="755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Rodzaje wyjątków w pythonie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050" y="1720900"/>
            <a:ext cx="10835323" cy="516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latin typeface="Comic Sans MS"/>
                <a:ea typeface="Comic Sans MS"/>
                <a:cs typeface="Comic Sans MS"/>
                <a:sym typeface="Comic Sans MS"/>
              </a:rPr>
              <a:t>Jak wygląda taki wyjątek i co z nim zrobić?</a:t>
            </a:r>
            <a:endParaRPr sz="41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1227925" y="2011350"/>
            <a:ext cx="53190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1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>
                <a:latin typeface="Comic Sans MS"/>
                <a:ea typeface="Comic Sans MS"/>
                <a:cs typeface="Comic Sans MS"/>
                <a:sym typeface="Comic Sans MS"/>
              </a:rPr>
              <a:t>try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 - potencjalnie niebezpieczna część kodu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11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>
                <a:latin typeface="Comic Sans MS"/>
                <a:ea typeface="Comic Sans MS"/>
                <a:cs typeface="Comic Sans MS"/>
                <a:sym typeface="Comic Sans MS"/>
              </a:rPr>
              <a:t>except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- obsługa wyjątków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11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>
                <a:latin typeface="Comic Sans MS"/>
                <a:ea typeface="Comic Sans MS"/>
                <a:cs typeface="Comic Sans MS"/>
                <a:sym typeface="Comic Sans MS"/>
              </a:rPr>
              <a:t>finally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 - bezpieczne zakończenie operacji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4213" y="1622425"/>
            <a:ext cx="5105400" cy="557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923925" y="71648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Comic Sans MS"/>
                <a:ea typeface="Comic Sans MS"/>
                <a:cs typeface="Comic Sans MS"/>
                <a:sym typeface="Comic Sans MS"/>
              </a:rPr>
              <a:t>to jest podstawowa obsługa wyjątków, </a:t>
            </a:r>
            <a:endParaRPr sz="45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Comic Sans MS"/>
                <a:ea typeface="Comic Sans MS"/>
                <a:cs typeface="Comic Sans MS"/>
                <a:sym typeface="Comic Sans MS"/>
              </a:rPr>
              <a:t>a co z zaawansowaną ?</a:t>
            </a:r>
            <a:endParaRPr sz="45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923925" y="2011362"/>
            <a:ext cx="11585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-Customowe i grupowe wyjątki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-rozbudowana obsługa wyjątków wraz z ich wywoływaniem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-exception chaining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-contexts managers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Customowe wyjątki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923925" y="1657925"/>
            <a:ext cx="5792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Python oferuje możliwość dodawania swoich wyjątków, które powinny dziedziczyć pośrednio lub bezpośrednio z BaseException oferując dodatkowe informacje przy obsłudze wyjątków w rozbudowanych aplikacjach.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Dobrą praktyką jest też dodawanie “Error” w nazwie wyjątków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0275" y="1862025"/>
            <a:ext cx="5792700" cy="1331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2475" y="3950448"/>
            <a:ext cx="4948285" cy="20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Customowe wyjątki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3576" y="2400112"/>
            <a:ext cx="7746399" cy="275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Grupowe wyjątki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923925" y="2597650"/>
            <a:ext cx="5792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W zwykłym except zajmujemy się jednym wyjątkiem, z użyciem Exception group oraz except* możemy zająć się kilkoma naraz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6625" y="1511926"/>
            <a:ext cx="6348800" cy="202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6625" y="4057875"/>
            <a:ext cx="6348801" cy="2820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Grupowe wyjątki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923925" y="2011362"/>
            <a:ext cx="11585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5838" y="1747263"/>
            <a:ext cx="6181725" cy="5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Exception chaining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923925" y="2011350"/>
            <a:ext cx="5792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Posiadając grupowe i customowe wyjątki przydatna jest mechanika “chainowania” wyjątków, by opakować i zgrupować błędy lub przekazać lepsze informacje o przyczynie błędu lub ukryć error przed użytkownikiem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6150" y="1862025"/>
            <a:ext cx="5694775" cy="22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6150" y="4671600"/>
            <a:ext cx="4194775" cy="14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Context managers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923925" y="2011350"/>
            <a:ext cx="5792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Pracując na plikach czy innych zasobach trzeba uwzględniać ich precyzyjną obsługe i bezpieczeństwo co możemy zrobić za pomocą context managerów.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Możemy ich użyć tworząc sami taki lub importując z bilbioteki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72" name="Google Shape;17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0450" y="1588060"/>
            <a:ext cx="4753150" cy="438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Context managers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923925" y="2011362"/>
            <a:ext cx="11585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25" y="1862025"/>
            <a:ext cx="5157825" cy="46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7148" y="1862026"/>
            <a:ext cx="5111420" cy="464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923875" y="1617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Debugowanie</a:t>
            </a:r>
            <a:endParaRPr/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500" y="3078023"/>
            <a:ext cx="2518425" cy="251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print(“error here ”)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923925" y="2011350"/>
            <a:ext cx="5792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Debugowanie to proces szukania przyczyny błędów w programie.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Można go rozdzielić na mniej czy bardziej zaawansowane praktyki jak print() w kodzie czy użycie debuggera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3" name="Google Shape;1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3325" y="2331784"/>
            <a:ext cx="5157950" cy="289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debuger co to jest i jak działa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923925" y="2369650"/>
            <a:ext cx="5792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Narzędzie pozwalające na zatrzymanie kodu w momencie jego wykonywania, sprawdzenia wartości zmiennych i wiele innych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00" name="Google Shape;20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1600" y="3111512"/>
            <a:ext cx="576262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breakpointy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923925" y="2011350"/>
            <a:ext cx="5792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Element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debuggera pozwalający zatrzymać kod na konkretnej lini występujący z wariantem warunkowym jeśli jest spełniony warunek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07" name="Google Shape;20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4700" y="2513851"/>
            <a:ext cx="4572040" cy="20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breakpointy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923925" y="2011362"/>
            <a:ext cx="11585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388" y="2011350"/>
            <a:ext cx="981075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watch expressions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923925" y="2762200"/>
            <a:ext cx="57315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Kolejne narzędzie debuggera pozwalające obserwować konkretną zmienną lub interesujące nas wyrażenie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21" name="Google Shape;22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5300" y="3165250"/>
            <a:ext cx="5731499" cy="2060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variable hot swap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3820425" y="2109075"/>
            <a:ext cx="5792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/>
              <a:t>Narzędzie debuggera pozwalające w trakcie wykonywania kodu na podmianę wartości zmiennych w pamięci RAM 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/>
              <a:t>Pozwala sprawdzić różne fragmenty kodu bez potrzeby restartu lub testowania różnych scenariuszy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debugowanie post mortem </a:t>
            </a:r>
            <a:r>
              <a:rPr lang="en-US" sz="2900">
                <a:latin typeface="Comic Sans MS"/>
                <a:ea typeface="Comic Sans MS"/>
                <a:cs typeface="Comic Sans MS"/>
                <a:sym typeface="Comic Sans MS"/>
              </a:rPr>
              <a:t>(łac. po śmierci)</a:t>
            </a:r>
            <a:endParaRPr sz="29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3" name="Google Shape;233;p34"/>
          <p:cNvSpPr txBox="1"/>
          <p:nvPr>
            <p:ph idx="1" type="body"/>
          </p:nvPr>
        </p:nvSpPr>
        <p:spPr>
          <a:xfrm>
            <a:off x="923925" y="2011350"/>
            <a:ext cx="5792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/>
              <a:t>Metoda debugowania pozwalająca zobaczyć kod w momencie usterki, a nie tylko error message.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/>
              <a:t>Opiera się na zastosowaniu funkcji: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/>
              <a:t>sys.exit_info()</a:t>
            </a:r>
            <a:endParaRPr/>
          </a:p>
        </p:txBody>
      </p:sp>
      <p:pic>
        <p:nvPicPr>
          <p:cNvPr id="234" name="Google Shape;23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6725" y="2748087"/>
            <a:ext cx="6412000" cy="2060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Asercja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0" name="Google Shape;240;p35"/>
          <p:cNvSpPr txBox="1"/>
          <p:nvPr>
            <p:ph idx="1" type="body"/>
          </p:nvPr>
        </p:nvSpPr>
        <p:spPr>
          <a:xfrm>
            <a:off x="923925" y="2011350"/>
            <a:ext cx="59160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Narzędzie pozwalające nam się upewnić się, że pewien warunek jest spełniony, które możemy wyłączyć odpowiednią flagą przy uruchamianiu -O (optimize)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Czym się różni od if i raise ?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if i raise stosujemy przy błędzie użytkownika a assert przy naszych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41" name="Google Shape;24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4025" y="3724460"/>
            <a:ext cx="6133975" cy="1368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978200" y="727362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latin typeface="Comic Sans MS"/>
                <a:ea typeface="Comic Sans MS"/>
                <a:cs typeface="Comic Sans MS"/>
                <a:sym typeface="Comic Sans MS"/>
              </a:rPr>
              <a:t>debugowanie nie tylko błędów, a  i wydajności</a:t>
            </a:r>
            <a:endParaRPr sz="42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7" name="Google Shape;247;p36"/>
          <p:cNvSpPr txBox="1"/>
          <p:nvPr>
            <p:ph idx="1" type="body"/>
          </p:nvPr>
        </p:nvSpPr>
        <p:spPr>
          <a:xfrm>
            <a:off x="923925" y="2011350"/>
            <a:ext cx="5792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debugowanie prędkości kodu nazywamy “profilowaniem”.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Tak jak przy debugowaniu mamy tu różne narzędzia :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-time.time()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-cProfile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-line_profiler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Profilowanie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3" name="Google Shape;253;p37"/>
          <p:cNvSpPr txBox="1"/>
          <p:nvPr>
            <p:ph idx="1" type="body"/>
          </p:nvPr>
        </p:nvSpPr>
        <p:spPr>
          <a:xfrm>
            <a:off x="923925" y="2347925"/>
            <a:ext cx="55578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/>
              <a:t>Tak jak w debugowaniu na prostych projektach używa się print(), tutaj można zastosować proste porównanie time.time() przed i po funkcji czy timeit</a:t>
            </a:r>
            <a:endParaRPr/>
          </a:p>
        </p:txBody>
      </p:sp>
      <p:pic>
        <p:nvPicPr>
          <p:cNvPr id="254" name="Google Shape;25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4125" y="1699587"/>
            <a:ext cx="5324475" cy="48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Profilowanie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0" name="Google Shape;260;p38"/>
          <p:cNvSpPr txBox="1"/>
          <p:nvPr>
            <p:ph idx="1" type="body"/>
          </p:nvPr>
        </p:nvSpPr>
        <p:spPr>
          <a:xfrm>
            <a:off x="923925" y="2011350"/>
            <a:ext cx="5792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/>
              <a:t>cProfile wbudowane narzędzie w pythonie pozwalające określić ile razy była wykonywana każda funkcja i ile zajeła</a:t>
            </a:r>
            <a:endParaRPr/>
          </a:p>
        </p:txBody>
      </p:sp>
      <p:pic>
        <p:nvPicPr>
          <p:cNvPr id="261" name="Google Shape;26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2200" y="3778246"/>
            <a:ext cx="7553401" cy="30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Profilowanie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7" name="Google Shape;267;p39"/>
          <p:cNvSpPr txBox="1"/>
          <p:nvPr>
            <p:ph idx="1" type="body"/>
          </p:nvPr>
        </p:nvSpPr>
        <p:spPr>
          <a:xfrm>
            <a:off x="923925" y="2011350"/>
            <a:ext cx="49173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line_profiler jest zewnętrznym narzędziem które pozwala określić linia po lini, która zajmuje najdłużej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68" name="Google Shape;26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0175" y="1862037"/>
            <a:ext cx="6467475" cy="3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Pytania ?</a:t>
            </a:r>
            <a:endParaRPr/>
          </a:p>
        </p:txBody>
      </p:sp>
      <p:sp>
        <p:nvSpPr>
          <p:cNvPr id="274" name="Google Shape;274;p40"/>
          <p:cNvSpPr txBox="1"/>
          <p:nvPr>
            <p:ph idx="1" type="body"/>
          </p:nvPr>
        </p:nvSpPr>
        <p:spPr>
          <a:xfrm>
            <a:off x="923925" y="2141500"/>
            <a:ext cx="3636000" cy="541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Jeśli ktoś szuka większej ilości szczegółów: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https://docs.python.org/3/tutorial/errors.html#user-defined-exceptions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5710" y="1527050"/>
            <a:ext cx="6029450" cy="602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0"/>
          <p:cNvSpPr txBox="1"/>
          <p:nvPr/>
        </p:nvSpPr>
        <p:spPr>
          <a:xfrm>
            <a:off x="8794200" y="2117125"/>
            <a:ext cx="41907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https://docs.python.org/3/library/profile.html#introduction-to-the-profilers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0"/>
          <p:cNvSpPr txBox="1"/>
          <p:nvPr/>
        </p:nvSpPr>
        <p:spPr>
          <a:xfrm>
            <a:off x="8815925" y="4288525"/>
            <a:ext cx="4169100" cy="24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https://docs.python.org/3/library/timeit.html#basic-examples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/>
          <p:nvPr>
            <p:ph type="title"/>
          </p:nvPr>
        </p:nvSpPr>
        <p:spPr>
          <a:xfrm>
            <a:off x="923925" y="401637"/>
            <a:ext cx="11585700" cy="146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omówienie zadań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3" name="Google Shape;283;p41"/>
          <p:cNvSpPr txBox="1"/>
          <p:nvPr>
            <p:ph idx="1" type="body"/>
          </p:nvPr>
        </p:nvSpPr>
        <p:spPr>
          <a:xfrm>
            <a:off x="923925" y="2011362"/>
            <a:ext cx="11585700" cy="479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-zadanie 1: napisanie try/except/finally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-zadanie 2: napisanie własnego customowego wyjątku z jego obsługą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-zadanie 3: uzupełnienie context managera i sprawdzenie jego działania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-zadanie 4: profilowanie kodu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 Presentation">
  <a:themeElements>
    <a:clrScheme name="Motyw pakietu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